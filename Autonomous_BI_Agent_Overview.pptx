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oval">
            <a:avLst/>
          </a:prstGeom>
          <a:solidFill>
            <a:srgbClr val="0E9F8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oval">
            <a:avLst/>
          </a:prstGeom>
          <a:solidFill>
            <a:srgbClr val="3B7DD8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  ·  12–20 SEPTEMBER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50876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Intelligence Agent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46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a business question in plain English. The agent finds the right data, writes the SQL, runs it safely, builds a chart and explains the answer — no analyst in the loop.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1225296" cy="420624"/>
          </a:xfrm>
          <a:prstGeom prst="roundRect">
            <a:avLst>
              <a:gd name="adj" fmla="val 19565"/>
            </a:avLst>
          </a:prstGeom>
          <a:solidFill>
            <a:srgbClr val="13324F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709160"/>
            <a:ext cx="1225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LLM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03704" y="4709160"/>
            <a:ext cx="1435608" cy="420624"/>
          </a:xfrm>
          <a:prstGeom prst="roundRect">
            <a:avLst>
              <a:gd name="adj" fmla="val 19565"/>
            </a:avLst>
          </a:prstGeom>
          <a:solidFill>
            <a:srgbClr val="13324F"/>
          </a:solidFill>
          <a:ln w="12700">
            <a:solidFill>
              <a:srgbClr val="3B7D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03704" y="4709160"/>
            <a:ext cx="1435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7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RAG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4709160"/>
            <a:ext cx="2276856" cy="420624"/>
          </a:xfrm>
          <a:prstGeom prst="roundRect">
            <a:avLst>
              <a:gd name="adj" fmla="val 19565"/>
            </a:avLst>
          </a:prstGeom>
          <a:solidFill>
            <a:srgbClr val="13324F"/>
          </a:solidFill>
          <a:ln w="12700">
            <a:solidFill>
              <a:srgbClr val="7A6F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4709160"/>
            <a:ext cx="2276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6F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· Northwind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18504" y="4709160"/>
            <a:ext cx="2276856" cy="420624"/>
          </a:xfrm>
          <a:prstGeom prst="roundRect">
            <a:avLst>
              <a:gd name="adj" fmla="val 19565"/>
            </a:avLst>
          </a:prstGeom>
          <a:solidFill>
            <a:srgbClr val="13324F"/>
          </a:solidFill>
          <a:ln w="12700">
            <a:solidFill>
              <a:srgbClr val="E2A0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18504" y="4709160"/>
            <a:ext cx="2276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A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+ Plotly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of 5   ·   9-day sprint (12–20 Sep)   ·   Deliverable: working agent, dashboard &amp; docs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oval">
            <a:avLst/>
          </a:prstGeom>
          <a:solidFill>
            <a:srgbClr val="0E9F8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oval">
            <a:avLst/>
          </a:prstGeom>
          <a:solidFill>
            <a:srgbClr val="3B7DD8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7863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problem, and how we solve it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5074920" cy="3703320"/>
          </a:xfrm>
          <a:prstGeom prst="roundRect">
            <a:avLst>
              <a:gd name="adj" fmla="val 2963"/>
            </a:avLst>
          </a:prstGeom>
          <a:solidFill>
            <a:srgbClr val="13324F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167128"/>
            <a:ext cx="310896" cy="310896"/>
          </a:xfrm>
          <a:prstGeom prst="oval">
            <a:avLst/>
          </a:prstGeom>
          <a:solidFill>
            <a:srgbClr val="E2A03F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29284" y="2244852"/>
            <a:ext cx="155448" cy="155448"/>
          </a:xfrm>
          <a:prstGeom prst="oval">
            <a:avLst/>
          </a:prstGeom>
          <a:solidFill>
            <a:srgbClr val="E2A0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2A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3026664"/>
            <a:ext cx="118872" cy="118872"/>
          </a:xfrm>
          <a:prstGeom prst="oval">
            <a:avLst/>
          </a:prstGeom>
          <a:solidFill>
            <a:srgbClr val="E2A0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291693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are gated by SQL skill.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users wait days on an analyst for a one-line answer.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97280" y="3922776"/>
            <a:ext cx="118872" cy="118872"/>
          </a:xfrm>
          <a:prstGeom prst="oval">
            <a:avLst/>
          </a:prstGeom>
          <a:solidFill>
            <a:srgbClr val="E2A0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381304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Schemas are too big to hand a model.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tables and 100+ columns overwhelm the prompt.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97280" y="4818888"/>
            <a:ext cx="118872" cy="118872"/>
          </a:xfrm>
          <a:prstGeom prst="oval">
            <a:avLst/>
          </a:prstGeom>
          <a:solidFill>
            <a:srgbClr val="E2A0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470916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 invent columns and joins.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text-to-SQL is unreliable and unsafe on a live database.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874520"/>
            <a:ext cx="5074920" cy="3703320"/>
          </a:xfrm>
          <a:prstGeom prst="roundRect">
            <a:avLst>
              <a:gd name="adj" fmla="val 2963"/>
            </a:avLst>
          </a:prstGeom>
          <a:solidFill>
            <a:srgbClr val="13324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167128"/>
            <a:ext cx="310896" cy="310896"/>
          </a:xfrm>
          <a:prstGeom prst="oval">
            <a:avLst/>
          </a:prstGeom>
          <a:solidFill>
            <a:srgbClr val="0E9F8E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24244" y="2244852"/>
            <a:ext cx="155448" cy="155448"/>
          </a:xfrm>
          <a:prstGeom prst="oval">
            <a:avLst/>
          </a:prstGeom>
          <a:solidFill>
            <a:srgbClr val="0E9F8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4944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92240" y="3026664"/>
            <a:ext cx="118872" cy="118872"/>
          </a:xfrm>
          <a:prstGeom prst="oval">
            <a:avLst/>
          </a:prstGeom>
          <a:solidFill>
            <a:srgbClr val="0E9F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0" y="291693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Retrieve, then generate.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retrieval narrows 13 tables to the 5 that matter first.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3922776"/>
            <a:ext cx="118872" cy="118872"/>
          </a:xfrm>
          <a:prstGeom prst="oval">
            <a:avLst/>
          </a:prstGeom>
          <a:solidFill>
            <a:srgbClr val="0E9F8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381304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Constrain, then execute.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may only read data — safety is enforced in code.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4818888"/>
            <a:ext cx="118872" cy="118872"/>
          </a:xfrm>
          <a:prstGeom prst="oval">
            <a:avLst/>
          </a:prstGeom>
          <a:solidFill>
            <a:srgbClr val="0E9F8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470916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Answer, don’t dump.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result comes with the right chart and a plain-English summary.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oval">
            <a:avLst/>
          </a:prstGeom>
          <a:solidFill>
            <a:srgbClr val="0E9F8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oval">
            <a:avLst/>
          </a:prstGeom>
          <a:solidFill>
            <a:srgbClr val="3B7DD8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7863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question to answer in four steps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2395728" cy="2651760"/>
          </a:xfrm>
          <a:prstGeom prst="roundRect">
            <a:avLst>
              <a:gd name="adj" fmla="val 4580"/>
            </a:avLst>
          </a:prstGeom>
          <a:solidFill>
            <a:srgbClr val="13324F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2377440"/>
            <a:ext cx="658368" cy="658368"/>
          </a:xfrm>
          <a:prstGeom prst="oval">
            <a:avLst/>
          </a:prstGeom>
          <a:solidFill>
            <a:srgbClr val="0E9F8E">
              <a:alpha val="1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69848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322783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3630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question in plain English, right in the dashboard.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91256" y="3236976"/>
            <a:ext cx="310896" cy="292608"/>
          </a:xfrm>
          <a:prstGeom prst="chevron">
            <a:avLst/>
          </a:prstGeom>
          <a:solidFill>
            <a:srgbClr val="1B4062"/>
          </a:solidFill>
          <a:ln/>
        </p:spPr>
      </p:sp>
      <p:sp>
        <p:nvSpPr>
          <p:cNvPr id="12" name="Shape 10"/>
          <p:cNvSpPr/>
          <p:nvPr/>
        </p:nvSpPr>
        <p:spPr>
          <a:xfrm>
            <a:off x="3557016" y="2057400"/>
            <a:ext cx="2395728" cy="2651760"/>
          </a:xfrm>
          <a:prstGeom prst="roundRect">
            <a:avLst>
              <a:gd name="adj" fmla="val 4580"/>
            </a:avLst>
          </a:prstGeom>
          <a:solidFill>
            <a:srgbClr val="13324F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9624" y="2377440"/>
            <a:ext cx="658368" cy="658368"/>
          </a:xfrm>
          <a:prstGeom prst="oval">
            <a:avLst/>
          </a:prstGeom>
          <a:solidFill>
            <a:srgbClr val="3B7DD8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49624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7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849624" y="322783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849624" y="3630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picks the right tables for the question.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71032" y="3236976"/>
            <a:ext cx="310896" cy="292608"/>
          </a:xfrm>
          <a:prstGeom prst="chevron">
            <a:avLst/>
          </a:prstGeom>
          <a:solidFill>
            <a:srgbClr val="1B4062"/>
          </a:solidFill>
          <a:ln/>
        </p:spPr>
      </p:sp>
      <p:sp>
        <p:nvSpPr>
          <p:cNvPr id="18" name="Shape 16"/>
          <p:cNvSpPr/>
          <p:nvPr/>
        </p:nvSpPr>
        <p:spPr>
          <a:xfrm>
            <a:off x="6336792" y="2057400"/>
            <a:ext cx="2395728" cy="2651760"/>
          </a:xfrm>
          <a:prstGeom prst="roundRect">
            <a:avLst>
              <a:gd name="adj" fmla="val 4580"/>
            </a:avLst>
          </a:prstGeom>
          <a:solidFill>
            <a:srgbClr val="13324F"/>
          </a:solidFill>
          <a:ln/>
        </p:spPr>
      </p:sp>
      <p:sp>
        <p:nvSpPr>
          <p:cNvPr id="19" name="Shape 17"/>
          <p:cNvSpPr/>
          <p:nvPr/>
        </p:nvSpPr>
        <p:spPr>
          <a:xfrm>
            <a:off x="6629400" y="2377440"/>
            <a:ext cx="658368" cy="658368"/>
          </a:xfrm>
          <a:prstGeom prst="oval">
            <a:avLst/>
          </a:prstGeom>
          <a:solidFill>
            <a:srgbClr val="7A6FF0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6F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322783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safely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630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writes one read-only SQL query and checks it.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50808" y="3236976"/>
            <a:ext cx="310896" cy="292608"/>
          </a:xfrm>
          <a:prstGeom prst="chevron">
            <a:avLst/>
          </a:prstGeom>
          <a:solidFill>
            <a:srgbClr val="1B4062"/>
          </a:solidFill>
          <a:ln/>
        </p:spPr>
      </p:sp>
      <p:sp>
        <p:nvSpPr>
          <p:cNvPr id="24" name="Shape 22"/>
          <p:cNvSpPr/>
          <p:nvPr/>
        </p:nvSpPr>
        <p:spPr>
          <a:xfrm>
            <a:off x="9116568" y="2057400"/>
            <a:ext cx="2395728" cy="2651760"/>
          </a:xfrm>
          <a:prstGeom prst="roundRect">
            <a:avLst>
              <a:gd name="adj" fmla="val 4580"/>
            </a:avLst>
          </a:prstGeom>
          <a:solidFill>
            <a:srgbClr val="13324F"/>
          </a:solidFill>
          <a:ln/>
        </p:spPr>
      </p:sp>
      <p:sp>
        <p:nvSpPr>
          <p:cNvPr id="25" name="Shape 23"/>
          <p:cNvSpPr/>
          <p:nvPr/>
        </p:nvSpPr>
        <p:spPr>
          <a:xfrm>
            <a:off x="9409176" y="2377440"/>
            <a:ext cx="658368" cy="658368"/>
          </a:xfrm>
          <a:prstGeom prst="oval">
            <a:avLst/>
          </a:prstGeom>
          <a:solidFill>
            <a:srgbClr val="E2A03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09176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A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409176" y="322783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409176" y="3630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it, then returns a chart and a short summary.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1663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middle two steps are what make it autonomous — the agent decides what data to use and refuses its own unsafe queries before anything touches the database.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oval">
            <a:avLst/>
          </a:prstGeom>
          <a:solidFill>
            <a:srgbClr val="0E9F8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oval">
            <a:avLst/>
          </a:prstGeom>
          <a:solidFill>
            <a:srgbClr val="3B7DD8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A GLANCE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7863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stack, and the team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2487168" cy="1371600"/>
          </a:xfrm>
          <a:prstGeom prst="roundRect">
            <a:avLst>
              <a:gd name="adj" fmla="val 6667"/>
            </a:avLst>
          </a:prstGeom>
          <a:solidFill>
            <a:srgbClr val="1332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2487168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18211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38728" y="2286000"/>
            <a:ext cx="2487168" cy="1371600"/>
          </a:xfrm>
          <a:prstGeom prst="roundRect">
            <a:avLst>
              <a:gd name="adj" fmla="val 6667"/>
            </a:avLst>
          </a:prstGeom>
          <a:solidFill>
            <a:srgbClr val="1332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94760" y="2487168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7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625K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318211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 of real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931920"/>
            <a:ext cx="2487168" cy="1371600"/>
          </a:xfrm>
          <a:prstGeom prst="roundRect">
            <a:avLst>
              <a:gd name="adj" fmla="val 6667"/>
            </a:avLst>
          </a:prstGeom>
          <a:solidFill>
            <a:srgbClr val="1332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33272" y="4133088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6F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16K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8280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38728" y="3931920"/>
            <a:ext cx="2487168" cy="1371600"/>
          </a:xfrm>
          <a:prstGeom prst="roundRect">
            <a:avLst>
              <a:gd name="adj" fmla="val 6667"/>
            </a:avLst>
          </a:prstGeom>
          <a:solidFill>
            <a:srgbClr val="1332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794760" y="4133088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A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1-click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3813048" y="48280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→ dashboard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2852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Northwind — a real sales &amp; logistics database (SQLite)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9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BUILD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2331720"/>
            <a:ext cx="182880" cy="182880"/>
          </a:xfrm>
          <a:prstGeom prst="oval">
            <a:avLst/>
          </a:prstGeom>
          <a:solidFill>
            <a:srgbClr val="0E9F8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57416" y="22037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database  —  </a:t>
            </a:r>
            <a:pPr indent="0" marL="0">
              <a:buNone/>
            </a:pPr>
            <a:r>
              <a:rPr lang="en-US" sz="13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Northwind setup and schema extraction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46520" y="2898648"/>
            <a:ext cx="182880" cy="182880"/>
          </a:xfrm>
          <a:prstGeom prst="oval">
            <a:avLst/>
          </a:prstGeom>
          <a:solidFill>
            <a:srgbClr val="3B7D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57416" y="2770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(RAG)  —  </a:t>
            </a:r>
            <a:pPr indent="0" marL="0">
              <a:buNone/>
            </a:pPr>
            <a:r>
              <a:rPr lang="en-US" sz="13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Picks the right tables for each question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46520" y="3465576"/>
            <a:ext cx="182880" cy="182880"/>
          </a:xfrm>
          <a:prstGeom prst="oval">
            <a:avLst/>
          </a:prstGeom>
          <a:solidFill>
            <a:srgbClr val="7A6FF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57416" y="3337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agent  —  </a:t>
            </a:r>
            <a:pPr indent="0" marL="0">
              <a:buNone/>
            </a:pPr>
            <a:r>
              <a:rPr lang="en-US" sz="13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and safety-checks every query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46520" y="4032504"/>
            <a:ext cx="182880" cy="182880"/>
          </a:xfrm>
          <a:prstGeom prst="oval">
            <a:avLst/>
          </a:prstGeom>
          <a:solidFill>
            <a:srgbClr val="E2A03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57416" y="39044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Visuals &amp; insights  —  </a:t>
            </a:r>
            <a:pPr indent="0" marL="0">
              <a:buNone/>
            </a:pPr>
            <a:r>
              <a:rPr lang="en-US" sz="13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charts and executive summaries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46520" y="4599432"/>
            <a:ext cx="182880" cy="182880"/>
          </a:xfrm>
          <a:prstGeom prst="oval">
            <a:avLst/>
          </a:prstGeom>
          <a:solidFill>
            <a:srgbClr val="C4D3D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57416" y="4471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&amp; QA  —  </a:t>
            </a:r>
            <a:pPr indent="0" marL="0">
              <a:buNone/>
            </a:pPr>
            <a:r>
              <a:rPr lang="en-US" sz="1300" dirty="0">
                <a:solidFill>
                  <a:srgbClr val="C4D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app, testing and demo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52852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members  ·  5 workstreams  ·  9-day sprint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2026-09-15T09:04:42Z</dcterms:created>
  <dcterms:modified xsi:type="dcterms:W3CDTF">2026-09-15T09:04:42Z</dcterms:modified>
</cp:coreProperties>
</file>