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PRESENTATION  ·  12–20 SEPTEMBER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50876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Intelligence Agent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a business question in plain English. The agent finds the right data, writes the SQL, runs it safely, builds a chart and explains the answer — no analyst in the loop.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2556662" cy="420624"/>
          </a:xfrm>
          <a:prstGeom prst="roundRect">
            <a:avLst>
              <a:gd name="adj" fmla="val 19565"/>
            </a:avLst>
          </a:prstGeom>
          <a:solidFill>
            <a:srgbClr val="13324F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709160"/>
            <a:ext cx="25566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LLM · gpt-oss-20b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16782" y="4709160"/>
            <a:ext cx="2062886" cy="420624"/>
          </a:xfrm>
          <a:prstGeom prst="roundRect">
            <a:avLst>
              <a:gd name="adj" fmla="val 19565"/>
            </a:avLst>
          </a:prstGeom>
          <a:solidFill>
            <a:srgbClr val="13324F"/>
          </a:solidFill>
          <a:ln w="12700">
            <a:solidFill>
              <a:srgbClr val="3B7D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6782" y="4709160"/>
            <a:ext cx="20628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Schema RAG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2549" y="4709160"/>
            <a:ext cx="2161642" cy="420624"/>
          </a:xfrm>
          <a:prstGeom prst="roundRect">
            <a:avLst>
              <a:gd name="adj" fmla="val 19565"/>
            </a:avLst>
          </a:prstGeom>
          <a:solidFill>
            <a:srgbClr val="13324F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2549" y="4709160"/>
            <a:ext cx="21616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F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Northwind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7070" y="4709160"/>
            <a:ext cx="2161642" cy="420624"/>
          </a:xfrm>
          <a:prstGeom prst="roundRect">
            <a:avLst>
              <a:gd name="adj" fmla="val 19565"/>
            </a:avLst>
          </a:prstGeom>
          <a:solidFill>
            <a:srgbClr val="13324F"/>
          </a:solidFill>
          <a:ln w="12700">
            <a:solidFill>
              <a:srgbClr val="E2A0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070" y="4709160"/>
            <a:ext cx="21616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A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+ Plotly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of 5   ·   9-day sprint (12–20 Sep)   ·   Deliverable: working agent, dashboard &amp; documentation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DETAILS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4066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Northwind operational database (SQLite)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B40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993392" cy="960120"/>
          </a:xfrm>
          <a:prstGeom prst="roundRect">
            <a:avLst>
              <a:gd name="adj" fmla="val 9524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170078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17627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98648" y="1600200"/>
            <a:ext cx="1993392" cy="960120"/>
          </a:xfrm>
          <a:prstGeom prst="roundRect">
            <a:avLst>
              <a:gd name="adj" fmla="val 9524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81528" y="170078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625,890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099816" y="217627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0056" y="1600200"/>
            <a:ext cx="1993392" cy="960120"/>
          </a:xfrm>
          <a:prstGeom prst="roundRect">
            <a:avLst>
              <a:gd name="adj" fmla="val 9524"/>
            </a:avLst>
          </a:prstGeom>
          <a:solidFill>
            <a:srgbClr val="1332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02936" y="170078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6F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16,282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221224" y="217627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41464" y="1600200"/>
            <a:ext cx="1993392" cy="960120"/>
          </a:xfrm>
          <a:prstGeom prst="roundRect">
            <a:avLst>
              <a:gd name="adj" fmla="val 9524"/>
            </a:avLst>
          </a:prstGeom>
          <a:solidFill>
            <a:srgbClr val="1332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24344" y="170078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A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609,283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42632" y="217627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order-detail lines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62872" y="1600200"/>
            <a:ext cx="1993392" cy="960120"/>
          </a:xfrm>
          <a:prstGeom prst="roundRect">
            <a:avLst>
              <a:gd name="adj" fmla="val 9524"/>
            </a:avLst>
          </a:prstGeom>
          <a:solidFill>
            <a:srgbClr val="1332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45752" y="170078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2012–2023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217627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coverage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2816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TABLES THE AGENT REASONS OVER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127248"/>
          <a:ext cx="10607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6217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9F8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0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9F8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0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9F8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columns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06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16,282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OrderDate, CustomerID, EmployeeID, ShipVia, Freight, ShipCountry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 Details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609,283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OrderID, ProductID, UnitPrice, Quantity, Discount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CustomerID, CompanyName, Country, City, ContactName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ProductID, ProductName, CategoryID, SupplierID, UnitPrice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Employees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EmployeeID, LastName, Title, HireDate, ReportsTo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Categories / Suppliers / Shippers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/ 29 / 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Reference dimensions used for grouping and joins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Regions / Territories / EmpTerritories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/ 53 / 49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Sales-geography hierarchy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Northwind: a real normalised OLTP schema — multi-hop joins, a genuine date dimension and a 600K-row fact table — so retrieval and join correctness are actually tested, not assumed.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DETAILS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4066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 → generate → guard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B40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1481328"/>
          </a:xfrm>
          <a:prstGeom prst="roundRect">
            <a:avLst>
              <a:gd name="adj" fmla="val 6173"/>
            </a:avLst>
          </a:prstGeom>
          <a:solidFill>
            <a:srgbClr val="13324F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874520"/>
            <a:ext cx="566928" cy="566928"/>
          </a:xfrm>
          <a:prstGeom prst="oval">
            <a:avLst/>
          </a:prstGeom>
          <a:solidFill>
            <a:srgbClr val="0E9F8E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801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schema retrieval   </a:t>
            </a:r>
            <a:pPr indent="0" marL="0">
              <a:buNone/>
            </a:pPr>
            <a:r>
              <a:rPr lang="en-US" sz="1100" i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rag_index.py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16712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table becomes one document and is indexed with TF-IDF over 1–2 grams. A domain signal is fused in, then the top-5 tables are passed forward as schema context.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984248"/>
            <a:ext cx="3063240" cy="713232"/>
          </a:xfrm>
          <a:prstGeom prst="roundRect">
            <a:avLst>
              <a:gd name="adj" fmla="val 10256"/>
            </a:avLst>
          </a:prstGeom>
          <a:solidFill>
            <a:srgbClr val="0F2A43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98424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= cosine_TFIDF(q, table)  +  0.15 × business_score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264408"/>
            <a:ext cx="10607040" cy="1481328"/>
          </a:xfrm>
          <a:prstGeom prst="roundRect">
            <a:avLst>
              <a:gd name="adj" fmla="val 6173"/>
            </a:avLst>
          </a:prstGeom>
          <a:solidFill>
            <a:srgbClr val="1332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3538728"/>
            <a:ext cx="566928" cy="566928"/>
          </a:xfrm>
          <a:prstGeom prst="oval">
            <a:avLst/>
          </a:prstGeom>
          <a:solidFill>
            <a:srgbClr val="3B7DD8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3538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46557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Constrained SQL generation   </a:t>
            </a:r>
            <a:pPr indent="0" marL="0">
              <a:buNone/>
            </a:pPr>
            <a:r>
              <a:rPr lang="en-US" sz="1100" i="1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sql_agent.py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831336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gpt-oss-20b at temperature 0, driven by a 21-rule prompt: exactly one statement, SELECT / WITH only, never invent a column, join across tables, GROUP BY / ORDER BY / LIMIT for ranking.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3648456"/>
            <a:ext cx="3063240" cy="713232"/>
          </a:xfrm>
          <a:prstGeom prst="roundRect">
            <a:avLst>
              <a:gd name="adj" fmla="val 10256"/>
            </a:avLst>
          </a:prstGeom>
          <a:solidFill>
            <a:srgbClr val="0F2A43"/>
          </a:solidFill>
          <a:ln w="9525">
            <a:solidFill>
              <a:srgbClr val="3B7D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3648456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statement · SELECT-only · no invented columns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4928616"/>
            <a:ext cx="10607040" cy="1481328"/>
          </a:xfrm>
          <a:prstGeom prst="roundRect">
            <a:avLst>
              <a:gd name="adj" fmla="val 6173"/>
            </a:avLst>
          </a:prstGeom>
          <a:solidFill>
            <a:srgbClr val="13324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5202936"/>
            <a:ext cx="566928" cy="566928"/>
          </a:xfrm>
          <a:prstGeom prst="oval">
            <a:avLst/>
          </a:prstGeom>
          <a:solidFill>
            <a:srgbClr val="7A6FF0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5202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6F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51297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guardrails   </a:t>
            </a:r>
            <a:pPr indent="0" marL="0">
              <a:buNone/>
            </a:pPr>
            <a:r>
              <a:rPr lang="en-US" sz="1100" i="1" dirty="0">
                <a:solidFill>
                  <a:srgbClr val="7A6F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validate_sql + db_utils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5495544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Word-boundary rejection of INSERT, UPDATE, DELETE, DROP, ALTER, CREATE, PRAGMA — enforced twice, in the agent and again at the database layer. Results capped at 1,000 rows.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83880" y="5312664"/>
            <a:ext cx="3063240" cy="713232"/>
          </a:xfrm>
          <a:prstGeom prst="roundRect">
            <a:avLst>
              <a:gd name="adj" fmla="val 10256"/>
            </a:avLst>
          </a:prstGeom>
          <a:solidFill>
            <a:srgbClr val="0F2A43"/>
          </a:solidFill>
          <a:ln w="9525">
            <a:solidFill>
              <a:srgbClr val="7A6F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1040" y="531266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7A6F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 fails → the query never reaches the database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 IN THE PROJECT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4066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LLM is used — and where it isn’t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B40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640080"/>
          </a:xfrm>
          <a:prstGeom prst="roundRect">
            <a:avLst>
              <a:gd name="adj" fmla="val 14286"/>
            </a:avLst>
          </a:prstGeom>
          <a:solidFill>
            <a:srgbClr val="13324F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828800"/>
            <a:ext cx="182880" cy="182880"/>
          </a:xfrm>
          <a:prstGeom prst="oval">
            <a:avLst/>
          </a:prstGeom>
          <a:solidFill>
            <a:srgbClr val="0E9F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00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gpt-oss-20b</a:t>
            </a:r>
            <a:pPr indent="0" marL="0">
              <a:buNone/>
            </a:pPr>
            <a:r>
              <a:rPr lang="en-US" sz="13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temperature 0   ·   4096 max tokens   ·   deterministic, grounded output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3401568" cy="2331720"/>
          </a:xfrm>
          <a:prstGeom prst="roundRect">
            <a:avLst>
              <a:gd name="adj" fmla="val 3922"/>
            </a:avLst>
          </a:prstGeom>
          <a:solidFill>
            <a:srgbClr val="13324F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" y="2788920"/>
            <a:ext cx="1033272" cy="310896"/>
          </a:xfrm>
          <a:prstGeom prst="roundRect">
            <a:avLst>
              <a:gd name="adj" fmla="val 20588"/>
            </a:avLst>
          </a:prstGeom>
          <a:solidFill>
            <a:srgbClr val="0F2A43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272" y="2788920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" y="326440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Text-to-SQL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379476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LLM turns a plain-English question into one valid SQL query, using only the retrieved schema and a strict 21-rule prompt.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79976" y="2514600"/>
            <a:ext cx="3401568" cy="2331720"/>
          </a:xfrm>
          <a:prstGeom prst="roundRect">
            <a:avLst>
              <a:gd name="adj" fmla="val 3922"/>
            </a:avLst>
          </a:prstGeom>
          <a:solidFill>
            <a:srgbClr val="13324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36008" y="2788920"/>
            <a:ext cx="1033272" cy="310896"/>
          </a:xfrm>
          <a:prstGeom prst="roundRect">
            <a:avLst>
              <a:gd name="adj" fmla="val 20588"/>
            </a:avLst>
          </a:prstGeom>
          <a:solidFill>
            <a:srgbClr val="0F2A43"/>
          </a:solidFill>
          <a:ln w="9525">
            <a:solidFill>
              <a:srgbClr val="3B7D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36008" y="2788920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326440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379476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query runs, the LLM writes a short, factual summary grounded strictly in the rows that came back — no numbers it can’t see.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82712" y="2514600"/>
            <a:ext cx="3401568" cy="2331720"/>
          </a:xfrm>
          <a:prstGeom prst="roundRect">
            <a:avLst>
              <a:gd name="adj" fmla="val 3922"/>
            </a:avLst>
          </a:prstGeom>
          <a:solidFill>
            <a:srgbClr val="13324F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8744" y="2788920"/>
            <a:ext cx="1817827" cy="310896"/>
          </a:xfrm>
          <a:prstGeom prst="roundRect">
            <a:avLst>
              <a:gd name="adj" fmla="val 20588"/>
            </a:avLst>
          </a:prstGeom>
          <a:solidFill>
            <a:srgbClr val="0F2A43"/>
          </a:solidFill>
          <a:ln w="9525">
            <a:solidFill>
              <a:srgbClr val="8FA6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38744" y="2788920"/>
            <a:ext cx="18178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CLASSICAL — NOT GENAI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38744" y="326440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&amp; guardrails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38744" y="379476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selection is TF-IDF + a domain score; safety is static code. Kept deterministic on purpose, so the LLM can’t bypass them.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074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design is intentionally hybrid: generative AI for language and reasoning, classic engineering for anything that must be safe and repeatable.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DETAILS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4066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it an autonomous agent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B40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13324F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20824"/>
            <a:ext cx="201168" cy="201168"/>
          </a:xfrm>
          <a:prstGeom prst="oval">
            <a:avLst/>
          </a:prstGeom>
          <a:solidFill>
            <a:srgbClr val="0E9F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35608" y="1929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Decides for itself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235000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Chooses which of the 13 tables are relevant to each question — no hard-coded query mapping.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13324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6248" y="2020824"/>
            <a:ext cx="201168" cy="201168"/>
          </a:xfrm>
          <a:prstGeom prst="oval">
            <a:avLst/>
          </a:prstGeom>
          <a:solidFill>
            <a:srgbClr val="3B7D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22008" y="1929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its own query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22008" y="235000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a fresh SQL statement per question and assembles its own schema context first.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56616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13324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" y="3895344"/>
            <a:ext cx="201168" cy="201168"/>
          </a:xfrm>
          <a:prstGeom prst="oval">
            <a:avLst/>
          </a:prstGeom>
          <a:solidFill>
            <a:srgbClr val="7A6F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35608" y="38039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its own output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2245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every query it writes and refuses unsafe SQL before anything runs — self-correction in the loop.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56616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13324F"/>
          </a:solidFill>
          <a:ln/>
        </p:spPr>
      </p:sp>
      <p:sp>
        <p:nvSpPr>
          <p:cNvPr id="20" name="Shape 18"/>
          <p:cNvSpPr/>
          <p:nvPr/>
        </p:nvSpPr>
        <p:spPr>
          <a:xfrm>
            <a:off x="6556248" y="3895344"/>
            <a:ext cx="201168" cy="201168"/>
          </a:xfrm>
          <a:prstGeom prst="oval">
            <a:avLst/>
          </a:prstGeom>
          <a:solidFill>
            <a:srgbClr val="E2A0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22008" y="38039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by design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22008" y="42245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write access to the database. Guardrails live in code, not in the prompt, so they can’t be talked around.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Autonomy with a safety net: the agent decides what to do and writes its own SQL, but every query passes a fixed, code-level check before it can touch the data.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WORKFLOW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4066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pipeline, question to dashboard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B40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4984" y="1883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188366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35915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UI · plain English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64408" y="2318004"/>
            <a:ext cx="182880" cy="256032"/>
          </a:xfrm>
          <a:prstGeom prst="chevron">
            <a:avLst/>
          </a:prstGeom>
          <a:solidFill>
            <a:srgbClr val="1B406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65576" y="173736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332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03320" y="1883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123944" y="188366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21608" y="235915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SchemaRAG · top-5 tables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52744" y="2318004"/>
            <a:ext cx="182880" cy="256032"/>
          </a:xfrm>
          <a:prstGeom prst="chevron">
            <a:avLst/>
          </a:prstGeom>
          <a:solidFill>
            <a:srgbClr val="1B4062"/>
          </a:solidFill>
          <a:ln/>
        </p:spPr>
      </p:sp>
      <p:sp>
        <p:nvSpPr>
          <p:cNvPr id="17" name="Shape 15"/>
          <p:cNvSpPr/>
          <p:nvPr/>
        </p:nvSpPr>
        <p:spPr>
          <a:xfrm>
            <a:off x="6153912" y="173736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332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91656" y="1883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6F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188366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35915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writes one SQL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41080" y="2318004"/>
            <a:ext cx="182880" cy="256032"/>
          </a:xfrm>
          <a:prstGeom prst="chevron">
            <a:avLst/>
          </a:prstGeom>
          <a:solidFill>
            <a:srgbClr val="1B4062"/>
          </a:solidFill>
          <a:ln/>
        </p:spPr>
      </p:sp>
      <p:sp>
        <p:nvSpPr>
          <p:cNvPr id="22" name="Shape 20"/>
          <p:cNvSpPr/>
          <p:nvPr/>
        </p:nvSpPr>
        <p:spPr>
          <a:xfrm>
            <a:off x="8842248" y="173736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332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79992" y="1883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A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500616" y="188366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235915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SELECT-only guardrail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347472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332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14984" y="3621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35608" y="3621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409651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read-only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64408" y="4055364"/>
            <a:ext cx="182880" cy="256032"/>
          </a:xfrm>
          <a:prstGeom prst="chevron">
            <a:avLst/>
          </a:prstGeom>
          <a:solidFill>
            <a:srgbClr val="1B4062"/>
          </a:solidFill>
          <a:ln/>
        </p:spPr>
      </p:sp>
      <p:sp>
        <p:nvSpPr>
          <p:cNvPr id="31" name="Shape 29"/>
          <p:cNvSpPr/>
          <p:nvPr/>
        </p:nvSpPr>
        <p:spPr>
          <a:xfrm>
            <a:off x="3465576" y="347472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332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703320" y="3621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4123944" y="3621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721608" y="409651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DataFrame · ≤1,000 rows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952744" y="4055364"/>
            <a:ext cx="182880" cy="256032"/>
          </a:xfrm>
          <a:prstGeom prst="chevron">
            <a:avLst/>
          </a:prstGeom>
          <a:solidFill>
            <a:srgbClr val="1B4062"/>
          </a:solidFill>
          <a:ln/>
        </p:spPr>
      </p:sp>
      <p:sp>
        <p:nvSpPr>
          <p:cNvPr id="36" name="Shape 34"/>
          <p:cNvSpPr/>
          <p:nvPr/>
        </p:nvSpPr>
        <p:spPr>
          <a:xfrm>
            <a:off x="6153912" y="347472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3324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91656" y="3621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6F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3621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Visualise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409944" y="409651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chart selection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641080" y="4055364"/>
            <a:ext cx="182880" cy="256032"/>
          </a:xfrm>
          <a:prstGeom prst="chevron">
            <a:avLst/>
          </a:prstGeom>
          <a:solidFill>
            <a:srgbClr val="1B4062"/>
          </a:solidFill>
          <a:ln/>
        </p:spPr>
      </p:sp>
      <p:sp>
        <p:nvSpPr>
          <p:cNvPr id="41" name="Shape 39"/>
          <p:cNvSpPr/>
          <p:nvPr/>
        </p:nvSpPr>
        <p:spPr>
          <a:xfrm>
            <a:off x="8842248" y="347472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3324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079992" y="3621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A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500616" y="3621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Summarise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09651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executive summary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77240" y="5120640"/>
            <a:ext cx="10607040" cy="566928"/>
          </a:xfrm>
          <a:prstGeom prst="roundRect">
            <a:avLst>
              <a:gd name="adj" fmla="val 16129"/>
            </a:avLst>
          </a:prstGeom>
          <a:solidFill>
            <a:srgbClr val="13324F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51560" y="51206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· Deliver   </a:t>
            </a:r>
            <a:pPr indent="0" marL="0">
              <a:buNone/>
            </a:pPr>
            <a:r>
              <a:rPr lang="en-US" sz="13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dashboard  ·  the generated SQL  ·  CSV export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2–4 are what make the agent autonomous: it decides which tables matter, writes its own query, and refuses unsafe output before anything touches the database.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4066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9-day sprint · 12–20 September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B40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Sep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2057400"/>
            <a:ext cx="0" cy="3566160"/>
          </a:xfrm>
          <a:prstGeom prst="line">
            <a:avLst/>
          </a:prstGeom>
          <a:noFill/>
          <a:ln w="6350">
            <a:solidFill>
              <a:srgbClr val="1B40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Sep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77640" y="2057400"/>
            <a:ext cx="0" cy="3566160"/>
          </a:xfrm>
          <a:prstGeom prst="line">
            <a:avLst/>
          </a:prstGeom>
          <a:noFill/>
          <a:ln w="6350">
            <a:solidFill>
              <a:srgbClr val="1B40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Sep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2057400"/>
            <a:ext cx="0" cy="3566160"/>
          </a:xfrm>
          <a:prstGeom prst="line">
            <a:avLst/>
          </a:prstGeom>
          <a:noFill/>
          <a:ln w="6350">
            <a:solidFill>
              <a:srgbClr val="1B40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Sep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06440" y="2057400"/>
            <a:ext cx="0" cy="3566160"/>
          </a:xfrm>
          <a:prstGeom prst="line">
            <a:avLst/>
          </a:prstGeom>
          <a:noFill/>
          <a:ln w="6350">
            <a:solidFill>
              <a:srgbClr val="1B40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Sep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2057400"/>
            <a:ext cx="0" cy="3566160"/>
          </a:xfrm>
          <a:prstGeom prst="line">
            <a:avLst/>
          </a:prstGeom>
          <a:noFill/>
          <a:ln w="6350">
            <a:solidFill>
              <a:srgbClr val="1B406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352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Sep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35240" y="2057400"/>
            <a:ext cx="0" cy="3566160"/>
          </a:xfrm>
          <a:prstGeom prst="line">
            <a:avLst/>
          </a:prstGeom>
          <a:noFill/>
          <a:ln w="6350">
            <a:solidFill>
              <a:srgbClr val="1B406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496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Sep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49640" y="2057400"/>
            <a:ext cx="0" cy="3566160"/>
          </a:xfrm>
          <a:prstGeom prst="line">
            <a:avLst/>
          </a:prstGeom>
          <a:noFill/>
          <a:ln w="6350">
            <a:solidFill>
              <a:srgbClr val="1B406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640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Sep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64040" y="2057400"/>
            <a:ext cx="0" cy="3566160"/>
          </a:xfrm>
          <a:prstGeom prst="line">
            <a:avLst/>
          </a:prstGeom>
          <a:noFill/>
          <a:ln w="6350">
            <a:solidFill>
              <a:srgbClr val="1B406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784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Sep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78440" y="2057400"/>
            <a:ext cx="0" cy="3566160"/>
          </a:xfrm>
          <a:prstGeom prst="line">
            <a:avLst/>
          </a:prstGeom>
          <a:noFill/>
          <a:ln w="6350">
            <a:solidFill>
              <a:srgbClr val="1B40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92840" y="2057400"/>
            <a:ext cx="0" cy="3566160"/>
          </a:xfrm>
          <a:prstGeom prst="line">
            <a:avLst/>
          </a:prstGeom>
          <a:noFill/>
          <a:ln w="6350">
            <a:solidFill>
              <a:srgbClr val="1B406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M1 · Data &amp; Database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99816" y="2194560"/>
            <a:ext cx="1755648" cy="365760"/>
          </a:xfrm>
          <a:prstGeom prst="roundRect">
            <a:avLst>
              <a:gd name="adj" fmla="val 15000"/>
            </a:avLst>
          </a:prstGeom>
          <a:solidFill>
            <a:srgbClr val="0E9F8E">
              <a:alpha val="85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M2 · Retrieval / RAG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14216" y="2926080"/>
            <a:ext cx="2670048" cy="365760"/>
          </a:xfrm>
          <a:prstGeom prst="roundRect">
            <a:avLst>
              <a:gd name="adj" fmla="val 15000"/>
            </a:avLst>
          </a:prstGeom>
          <a:solidFill>
            <a:srgbClr val="3B7DD8">
              <a:alpha val="85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M3 · LLM SQL Agent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28616" y="3657600"/>
            <a:ext cx="2670048" cy="365760"/>
          </a:xfrm>
          <a:prstGeom prst="roundRect">
            <a:avLst>
              <a:gd name="adj" fmla="val 15000"/>
            </a:avLst>
          </a:prstGeom>
          <a:solidFill>
            <a:srgbClr val="7A6FF0">
              <a:alpha val="85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4297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M4 · Viz &amp; Insights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57416" y="4389120"/>
            <a:ext cx="2670048" cy="365760"/>
          </a:xfrm>
          <a:prstGeom prst="roundRect">
            <a:avLst>
              <a:gd name="adj" fmla="val 15000"/>
            </a:avLst>
          </a:prstGeom>
          <a:solidFill>
            <a:srgbClr val="E2A03F">
              <a:alpha val="85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M5 · Integration &amp; QA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71816" y="5120640"/>
            <a:ext cx="3584448" cy="365760"/>
          </a:xfrm>
          <a:prstGeom prst="roundRect">
            <a:avLst>
              <a:gd name="adj" fmla="val 15000"/>
            </a:avLst>
          </a:prstGeom>
          <a:solidFill>
            <a:srgbClr val="C4D3DF">
              <a:alpha val="85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6080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Requirements, scope &amp; dataset lock-in on Day 1; testing, benchmark questions, docs and demo close out Days 18–20. Workstreams overlap so integration starts before every module is final.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SEGREGATION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4066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members · five workstreams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B40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070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320040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0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9F8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0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9F8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0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9F8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Deliverable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06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&amp; Database Engineer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0E9F8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northwind.db · db_utils.py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Schema extraction, read-only query layer, DB fixtures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B7D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Retrieval / RAG Engineer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3B7D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rag_index.py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TF-IDF index, business vocabulary, hybrid scoring, top-k tuning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7A6F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LLM &amp; SQL Agent Engineer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7A6F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sql_agent.py · config.yaml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Prompt design, Groq integration, SQL cleaning and validation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2A0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Visualisation &amp; Insights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E2A0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dashboard_generator.py · summary_generator.py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Chart-type inference, Plotly output, executive summaries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24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Integration, UI &amp; QA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app.py · main.py · tests/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4D3D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Streamlit UI, orchestration, benchmark tests, docs and demo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ownership per module, with M5 stitching everything into one Streamlit app and running the 20-question benchmark, docs and demo.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2026-09-15T09:14:30Z</dcterms:created>
  <dcterms:modified xsi:type="dcterms:W3CDTF">2026-09-15T09:14:30Z</dcterms:modified>
</cp:coreProperties>
</file>